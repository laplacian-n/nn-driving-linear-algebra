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pp_bc_xl_d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543050"/>
            <a:ext cx="6705600" cy="3771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4000" y="792000"/>
            <a:ext cx="512064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141414"/>
                </a:solidFill>
                <a:latin typeface="TH Sarabun New"/>
              </a:rPr>
              <a:t>2D Map</a:t>
            </a:r>
          </a:p>
          <a:p>
            <a:pPr>
              <a:spcAft>
                <a:spcPts val="600"/>
              </a:spcAft>
            </a:pPr>
            <a:r>
              <a:rPr sz="4000" b="1">
                <a:solidFill>
                  <a:srgbClr val="141414"/>
                </a:solidFill>
                <a:latin typeface="TH Sarabun New"/>
              </a:rPr>
              <a:t>Self-Driving Car</a:t>
            </a:r>
          </a:p>
          <a:p>
            <a:pPr>
              <a:spcAft>
                <a:spcPts val="600"/>
              </a:spcAft>
            </a:pPr>
            <a:r>
              <a:rPr sz="4000" b="1">
                <a:solidFill>
                  <a:srgbClr val="141414"/>
                </a:solidFill>
                <a:latin typeface="TH Sarabun New"/>
              </a:rPr>
              <a:t>Neural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4000" y="3024000"/>
            <a:ext cx="512064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0">
                <a:solidFill>
                  <a:srgbClr val="555555"/>
                </a:solidFill>
                <a:latin typeface="TH Sarabun New"/>
              </a:rPr>
              <a:t>รถแข่งขับเคลื่อนอัตโนมัติในแผนที่สองมิติด้วยโครงข่ายประสาทเทียม</a:t>
            </a:r>
          </a:p>
          <a:p>
            <a:pPr>
              <a:spcAft>
                <a:spcPts val="600"/>
              </a:spcAft>
            </a:pPr>
            <a:r>
              <a:rPr sz="2600" b="0">
                <a:solidFill>
                  <a:srgbClr val="555555"/>
                </a:solidFill>
                <a:latin typeface="TH Sarabun New"/>
              </a:rPr>
              <a:t/>
            </a:r>
          </a:p>
          <a:p>
            <a:pPr>
              <a:spcAft>
                <a:spcPts val="600"/>
              </a:spcAft>
            </a:pPr>
            <a:r>
              <a:rPr sz="2600" b="0">
                <a:solidFill>
                  <a:srgbClr val="555555"/>
                </a:solidFill>
                <a:latin typeface="TH Sarabun New"/>
              </a:rPr>
              <a:t>รายวิชา Linear Algebra</a:t>
            </a:r>
          </a:p>
          <a:p>
            <a:pPr>
              <a:spcAft>
                <a:spcPts val="600"/>
              </a:spcAft>
            </a:pPr>
            <a:r>
              <a:rPr sz="2600" b="0">
                <a:solidFill>
                  <a:srgbClr val="555555"/>
                </a:solidFill>
                <a:latin typeface="TH Sarabun New"/>
              </a:rPr>
              <a:t>ผู้จัดทำ ____________________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4000" y="216000"/>
            <a:ext cx="115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141414"/>
                </a:solidFill>
                <a:latin typeface="TH Sarabun New"/>
              </a:rPr>
              <a:t>ที่มาของปัญหา</a:t>
            </a:r>
          </a:p>
        </p:txBody>
      </p:sp>
      <p:sp>
        <p:nvSpPr>
          <p:cNvPr id="3" name="Rectangle 2"/>
          <p:cNvSpPr/>
          <p:nvPr/>
        </p:nvSpPr>
        <p:spPr>
          <a:xfrm>
            <a:off x="324000" y="810000"/>
            <a:ext cx="792000" cy="432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4000" y="1044000"/>
            <a:ext cx="4727520" cy="54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0">
                <a:solidFill>
                  <a:srgbClr val="141414"/>
                </a:solidFill>
                <a:latin typeface="TH Sarabun New"/>
              </a:rPr>
              <a:t>•  รถขับเองต้องตัดสินใจจากเซนเซอร์หลายมิติทุกเสี้ยววินาที</a:t>
            </a:r>
          </a:p>
          <a:p>
            <a:pPr>
              <a:spcAft>
                <a:spcPts val="600"/>
              </a:spcAft>
            </a:pPr>
            <a:r>
              <a:rPr sz="2600" b="0">
                <a:solidFill>
                  <a:srgbClr val="141414"/>
                </a:solidFill>
                <a:latin typeface="TH Sarabun New"/>
              </a:rPr>
              <a:t>•  ต้องคุมพวงมาลัย คันเร่ง เบรก พร้อมกัน โดยเฉพาะตอนยางใกล้หลุด</a:t>
            </a:r>
          </a:p>
          <a:p>
            <a:pPr>
              <a:spcAft>
                <a:spcPts val="600"/>
              </a:spcAft>
            </a:pPr>
            <a:r>
              <a:rPr sz="2600" b="0">
                <a:solidFill>
                  <a:srgbClr val="141414"/>
                </a:solidFill>
                <a:latin typeface="TH Sarabun New"/>
              </a:rPr>
              <a:t>•  เขียนกฎให้ครบทุกสถานการณ์ทำได้ยาก</a:t>
            </a:r>
          </a:p>
          <a:p>
            <a:pPr>
              <a:spcAft>
                <a:spcPts val="600"/>
              </a:spcAft>
            </a:pPr>
            <a:r>
              <a:rPr sz="2600" b="0">
                <a:solidFill>
                  <a:srgbClr val="141414"/>
                </a:solidFill>
                <a:latin typeface="TH Sarabun New"/>
              </a:rPr>
              <a:t>•  คำถาม: สมองต้องใหญ่แค่ไหน? เซนเซอร์กี่ตัว? ฝึกแบบไหน? บีบอัดได้แค่ไหน?</a:t>
            </a:r>
          </a:p>
        </p:txBody>
      </p:sp>
      <p:pic>
        <p:nvPicPr>
          <p:cNvPr id="5" name="Picture 4" descr="tracks_d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9520" y="2039274"/>
            <a:ext cx="6528480" cy="34274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00000" y="6498000"/>
            <a:ext cx="57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  <a:latin typeface="TH Sarabun New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4000" y="216000"/>
            <a:ext cx="115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141414"/>
                </a:solidFill>
                <a:latin typeface="TH Sarabun New"/>
              </a:rPr>
              <a:t>ไอเดียและแนวทางที่เลือก</a:t>
            </a:r>
          </a:p>
        </p:txBody>
      </p:sp>
      <p:sp>
        <p:nvSpPr>
          <p:cNvPr id="3" name="Rectangle 2"/>
          <p:cNvSpPr/>
          <p:nvPr/>
        </p:nvSpPr>
        <p:spPr>
          <a:xfrm>
            <a:off x="324000" y="810000"/>
            <a:ext cx="792000" cy="432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4000" y="1044000"/>
            <a:ext cx="4727520" cy="54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0">
                <a:solidFill>
                  <a:srgbClr val="141414"/>
                </a:solidFill>
                <a:latin typeface="TH Sarabun New"/>
              </a:rPr>
              <a:t>•  จำลองรถแข่ง 2D ฟิสิกส์สมจริง + สนาม F1 สุ่มใหม่ทุกครั้ง (ความยาก 0–3)</a:t>
            </a:r>
          </a:p>
          <a:p>
            <a:pPr>
              <a:spcAft>
                <a:spcPts val="600"/>
              </a:spcAft>
            </a:pPr>
            <a:r>
              <a:rPr sz="2600" b="0">
                <a:solidFill>
                  <a:srgbClr val="141414"/>
                </a:solidFill>
                <a:latin typeface="TH Sarabun New"/>
              </a:rPr>
              <a:t>•  รถเห็นสนามผ่านรังสีวัดระยะ 9 เส้นเท่านั้น</a:t>
            </a:r>
          </a:p>
          <a:p>
            <a:pPr>
              <a:spcAft>
                <a:spcPts val="600"/>
              </a:spcAft>
            </a:pPr>
            <a:r>
              <a:rPr sz="2600" b="0">
                <a:solidFill>
                  <a:srgbClr val="141414"/>
                </a:solidFill>
                <a:latin typeface="TH Sarabun New"/>
              </a:rPr>
              <a:t>•  neural network: 13 อินพุต → 4 คำสั่ง</a:t>
            </a:r>
          </a:p>
          <a:p>
            <a:pPr>
              <a:spcAft>
                <a:spcPts val="600"/>
              </a:spcAft>
            </a:pPr>
            <a:r>
              <a:rPr sz="2600" b="0">
                <a:solidFill>
                  <a:srgbClr val="141414"/>
                </a:solidFill>
                <a:latin typeface="TH Sarabun New"/>
              </a:rPr>
              <a:t>•  ฝึก 2 แบบ: Genetic Algorithm (เรียนเอง) และเรียนจากครูด้วย gradient</a:t>
            </a:r>
          </a:p>
          <a:p>
            <a:pPr>
              <a:spcAft>
                <a:spcPts val="600"/>
              </a:spcAft>
            </a:pPr>
            <a:r>
              <a:rPr sz="2600" b="0">
                <a:solidFill>
                  <a:srgbClr val="141414"/>
                </a:solidFill>
                <a:latin typeface="TH Sarabun New"/>
              </a:rPr>
              <a:t>•  เขียนเองทั้งหมดด้วย NumPy</a:t>
            </a:r>
          </a:p>
        </p:txBody>
      </p:sp>
      <p:pic>
        <p:nvPicPr>
          <p:cNvPr id="5" name="Picture 4" descr="app_ga_s_d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9520" y="1916865"/>
            <a:ext cx="6528480" cy="36722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00000" y="6498000"/>
            <a:ext cx="57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  <a:latin typeface="TH Sarabun New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4000" y="216000"/>
            <a:ext cx="115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141414"/>
                </a:solidFill>
                <a:latin typeface="TH Sarabun New"/>
              </a:rPr>
              <a:t>ภาพรวมขั้นตอนและการเตรียมข้อมูล</a:t>
            </a:r>
          </a:p>
        </p:txBody>
      </p:sp>
      <p:sp>
        <p:nvSpPr>
          <p:cNvPr id="3" name="Rectangle 2"/>
          <p:cNvSpPr/>
          <p:nvPr/>
        </p:nvSpPr>
        <p:spPr>
          <a:xfrm>
            <a:off x="324000" y="810000"/>
            <a:ext cx="792000" cy="432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4000" y="1044000"/>
            <a:ext cx="4727520" cy="54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0">
                <a:solidFill>
                  <a:srgbClr val="141414"/>
                </a:solidFill>
                <a:latin typeface="TH Sarabun New"/>
              </a:rPr>
              <a:t>•  สนาม → ฟิสิกส์ → เซนเซอร์ → เวกเตอร์ 13 มิติ → neural network → คำสั่ง</a:t>
            </a:r>
          </a:p>
          <a:p>
            <a:pPr>
              <a:spcAft>
                <a:spcPts val="600"/>
              </a:spcAft>
            </a:pPr>
            <a:r>
              <a:rPr sz="2600" b="0">
                <a:solidFill>
                  <a:srgbClr val="141414"/>
                </a:solidFill>
                <a:latin typeface="TH Sarabun New"/>
              </a:rPr>
              <a:t>•  ข้อมูลการขับ 22,819 แถว: สมบูรณ์ 77.8% / แก้ไข 16.8% / ตัดทิ้ง 5.4%</a:t>
            </a:r>
          </a:p>
          <a:p>
            <a:pPr>
              <a:spcAft>
                <a:spcPts val="600"/>
              </a:spcAft>
            </a:pPr>
            <a:r>
              <a:rPr sz="2600" b="0">
                <a:solidFill>
                  <a:srgbClr val="141414"/>
                </a:solidFill>
                <a:latin typeface="TH Sarabun New"/>
              </a:rPr>
              <a:t>•  หลังทำความสะอาด PCA 8 แกนอธิบายได้ 90.8% (ก่อนหน้า 78.8%)</a:t>
            </a:r>
          </a:p>
          <a:p>
            <a:pPr>
              <a:spcAft>
                <a:spcPts val="600"/>
              </a:spcAft>
            </a:pPr>
            <a:r>
              <a:rPr sz="2600" b="0">
                <a:solidFill>
                  <a:srgbClr val="141414"/>
                </a:solidFill>
                <a:latin typeface="TH Sarabun New"/>
              </a:rPr>
              <a:t>•  ฝึกตามหลักสูตร 7 สถานี แล้วสอบ 210 สนามที่ไม่เคยเห็น</a:t>
            </a:r>
          </a:p>
        </p:txBody>
      </p:sp>
      <p:pic>
        <p:nvPicPr>
          <p:cNvPr id="5" name="Picture 4" descr="data_pca_sc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9520" y="2379511"/>
            <a:ext cx="6528480" cy="27469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00000" y="6498000"/>
            <a:ext cx="57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  <a:latin typeface="TH Sarabun New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4000" y="216000"/>
            <a:ext cx="115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141414"/>
                </a:solidFill>
                <a:latin typeface="TH Sarabun New"/>
              </a:rPr>
              <a:t>พีชคณิตเชิงเส้นที่ใช้</a:t>
            </a:r>
          </a:p>
        </p:txBody>
      </p:sp>
      <p:sp>
        <p:nvSpPr>
          <p:cNvPr id="3" name="Rectangle 2"/>
          <p:cNvSpPr/>
          <p:nvPr/>
        </p:nvSpPr>
        <p:spPr>
          <a:xfrm>
            <a:off x="324000" y="810000"/>
            <a:ext cx="792000" cy="432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4000" y="1044000"/>
            <a:ext cx="5065200" cy="54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0">
                <a:solidFill>
                  <a:srgbClr val="141414"/>
                </a:solidFill>
                <a:latin typeface="TH Sarabun New"/>
              </a:rPr>
              <a:t>•  เวกเตอร์: การเคลื่อนที่ (บวก + หมุน), ผลคูณจุดหาระยะบนสนามและการชน, ผลคูณไขว้หาความโค้ง, การกลายพันธุ์ = บวกเวกเตอร์</a:t>
            </a:r>
          </a:p>
          <a:p>
            <a:pPr>
              <a:spcAft>
                <a:spcPts val="600"/>
              </a:spcAft>
            </a:pPr>
            <a:r>
              <a:rPr sz="2600" b="0">
                <a:solidFill>
                  <a:srgbClr val="141414"/>
                </a:solidFill>
                <a:latin typeface="TH Sarabun New"/>
              </a:rPr>
              <a:t>•  เมทริกซ์: กฎของคราเมอร์หาจุดตัดรังสี, คูณเมทริกซ์ใน neural network, ค่าไอเกน (PCA), ทรานสโพส/ผลคูณภายนอก (backprop), สมการปกติ (ตัดโหนด), SVD</a:t>
            </a:r>
          </a:p>
        </p:txBody>
      </p:sp>
      <p:pic>
        <p:nvPicPr>
          <p:cNvPr id="5" name="Picture 4" descr="data_eigen_sens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7200" y="2959600"/>
            <a:ext cx="6190800" cy="15867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00000" y="6498000"/>
            <a:ext cx="57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  <a:latin typeface="TH Sarabun New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4000" y="216000"/>
            <a:ext cx="115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141414"/>
                </a:solidFill>
                <a:latin typeface="TH Sarabun New"/>
              </a:rPr>
              <a:t>ผล 1: Genetic Algorithm กับขนาดโมเดล</a:t>
            </a:r>
          </a:p>
        </p:txBody>
      </p:sp>
      <p:sp>
        <p:nvSpPr>
          <p:cNvPr id="3" name="Rectangle 2"/>
          <p:cNvSpPr/>
          <p:nvPr/>
        </p:nvSpPr>
        <p:spPr>
          <a:xfrm>
            <a:off x="324000" y="810000"/>
            <a:ext cx="792000" cy="432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4000" y="1044000"/>
            <a:ext cx="4727520" cy="54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0">
                <a:solidFill>
                  <a:srgbClr val="141414"/>
                </a:solidFill>
                <a:latin typeface="TH Sarabun New"/>
              </a:rPr>
              <a:t>•  ระหว่างฝึกทุกขนาดได้ 74–78% เท่ากัน</a:t>
            </a:r>
          </a:p>
          <a:p>
            <a:pPr>
              <a:spcAft>
                <a:spcPts val="600"/>
              </a:spcAft>
            </a:pPr>
            <a:r>
              <a:rPr sz="2600" b="0">
                <a:solidFill>
                  <a:srgbClr val="141414"/>
                </a:solidFill>
                <a:latin typeface="TH Sarabun New"/>
              </a:rPr>
              <a:t>•  หลังฝึก S 2×8 ดีสุด 81%, XL 60%</a:t>
            </a:r>
          </a:p>
          <a:p>
            <a:pPr>
              <a:spcAft>
                <a:spcPts val="600"/>
              </a:spcAft>
            </a:pPr>
            <a:r>
              <a:rPr sz="2600" b="0">
                <a:solidFill>
                  <a:srgbClr val="141414"/>
                </a:solidFill>
                <a:latin typeface="TH Sarabun New"/>
              </a:rPr>
              <a:t>•  โมเดลใหญ่ลืมสนามง่าย (XL ระดับ 0.5: 90 → 58%)</a:t>
            </a:r>
          </a:p>
          <a:p>
            <a:pPr>
              <a:spcAft>
                <a:spcPts val="600"/>
              </a:spcAft>
            </a:pPr>
            <a:r>
              <a:rPr sz="2600" b="0">
                <a:solidFill>
                  <a:srgbClr val="141414"/>
                </a:solidFill>
                <a:latin typeface="TH Sarabun New"/>
              </a:rPr>
              <a:t>•  ไม่ใช่เพราะเกณฑ์อิ่มตัว → GA ค้นหาในมิติสูงได้ยาก</a:t>
            </a:r>
          </a:p>
        </p:txBody>
      </p:sp>
      <p:pic>
        <p:nvPicPr>
          <p:cNvPr id="5" name="Picture 4" descr="s3_over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9520" y="2051358"/>
            <a:ext cx="6528480" cy="34032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00000" y="6498000"/>
            <a:ext cx="57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  <a:latin typeface="TH Sarabun New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4000" y="216000"/>
            <a:ext cx="115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141414"/>
                </a:solidFill>
                <a:latin typeface="TH Sarabun New"/>
              </a:rPr>
              <a:t>ผล 2: เรียนจากครูด้วย gradient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324000" y="810000"/>
            <a:ext cx="792000" cy="432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4000" y="1044000"/>
            <a:ext cx="11544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0">
                <a:solidFill>
                  <a:srgbClr val="141414"/>
                </a:solidFill>
                <a:latin typeface="TH Sarabun New"/>
              </a:rPr>
              <a:t>•  โมเดลใหญ่ชนะจริง (ครู 75%): XS 16 → S 82 → L 88 → XL 94%   •   ฝึกเร็วกว่า GA ราว 10 เท่า</a:t>
            </a:r>
          </a:p>
          <a:p>
            <a:pPr>
              <a:spcAft>
                <a:spcPts val="600"/>
              </a:spcAft>
            </a:pPr>
            <a:r>
              <a:rPr sz="2400" b="0">
                <a:solidFill>
                  <a:srgbClr val="141414"/>
                </a:solidFill>
                <a:latin typeface="TH Sarabun New"/>
              </a:rPr>
              <a:t>•  งานยิ่งต้องแม่น (ครูขับเร็ว) โมเดลใหญ่ยิ่งได้เปรียบ   •   ครูขับเผื่อระยะสอนได้ดีกว่าครูขับสุดขีด</a:t>
            </a:r>
          </a:p>
        </p:txBody>
      </p:sp>
      <p:pic>
        <p:nvPicPr>
          <p:cNvPr id="5" name="Picture 4" descr="cmp_variants_by_lev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00" y="2859495"/>
            <a:ext cx="11544000" cy="25790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00000" y="6498000"/>
            <a:ext cx="57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  <a:latin typeface="TH Sarabun New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4000" y="216000"/>
            <a:ext cx="115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141414"/>
                </a:solidFill>
                <a:latin typeface="TH Sarabun New"/>
              </a:rPr>
              <a:t>ผล 3: เซนเซอร์และ PCA</a:t>
            </a:r>
          </a:p>
        </p:txBody>
      </p:sp>
      <p:sp>
        <p:nvSpPr>
          <p:cNvPr id="3" name="Rectangle 2"/>
          <p:cNvSpPr/>
          <p:nvPr/>
        </p:nvSpPr>
        <p:spPr>
          <a:xfrm>
            <a:off x="324000" y="810000"/>
            <a:ext cx="792000" cy="432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4000" y="1044000"/>
            <a:ext cx="11544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0">
                <a:solidFill>
                  <a:srgbClr val="141414"/>
                </a:solidFill>
                <a:latin typeface="TH Sarabun New"/>
              </a:rPr>
              <a:t>•  รังสี 3 เส้น 0%, 9 เส้น 88%, 17 เส้น 96%   •   PCA 4 มิติจาก 17 รังสี = 93% ดีกว่ารังสีจริง 9 เส้น</a:t>
            </a:r>
          </a:p>
          <a:p>
            <a:pPr>
              <a:spcAft>
                <a:spcPts val="600"/>
              </a:spcAft>
            </a:pPr>
            <a:r>
              <a:rPr sz="2400" b="0">
                <a:solidFill>
                  <a:srgbClr val="141414"/>
                </a:solidFill>
                <a:latin typeface="TH Sarabun New"/>
              </a:rPr>
              <a:t>•  ทิศสุ่ม 4 มิติได้แค่ 50% → เวกเตอร์ไอเกนมีความหมาย   •   PCA 17 มิติ = หมุนแกน = ผลเท่าเดิม</a:t>
            </a:r>
          </a:p>
        </p:txBody>
      </p:sp>
      <p:pic>
        <p:nvPicPr>
          <p:cNvPr id="5" name="Picture 4" descr="sens_dimen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247" y="1836000"/>
            <a:ext cx="10521505" cy="462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00000" y="6498000"/>
            <a:ext cx="57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  <a:latin typeface="TH Sarabun New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4000" y="216000"/>
            <a:ext cx="115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141414"/>
                </a:solidFill>
                <a:latin typeface="TH Sarabun New"/>
              </a:rPr>
              <a:t>ผล 4: การบีบอัดโมเดล</a:t>
            </a:r>
          </a:p>
        </p:txBody>
      </p:sp>
      <p:sp>
        <p:nvSpPr>
          <p:cNvPr id="3" name="Rectangle 2"/>
          <p:cNvSpPr/>
          <p:nvPr/>
        </p:nvSpPr>
        <p:spPr>
          <a:xfrm>
            <a:off x="324000" y="810000"/>
            <a:ext cx="792000" cy="432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4000" y="1044000"/>
            <a:ext cx="11544000" cy="11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400" b="0">
                <a:solidFill>
                  <a:srgbClr val="141414"/>
                </a:solidFill>
                <a:latin typeface="TH Sarabun New"/>
              </a:rPr>
              <a:t>•  ลดบิต W ≈ DQ: 8 บิต เล็กลง 3.6 เท่า (94 → 92%)</a:t>
            </a:r>
          </a:p>
          <a:p>
            <a:pPr>
              <a:spcAft>
                <a:spcPts val="600"/>
              </a:spcAft>
            </a:pPr>
            <a:r>
              <a:rPr sz="2400" b="0">
                <a:solidFill>
                  <a:srgbClr val="141414"/>
                </a:solidFill>
                <a:latin typeface="TH Sarabun New"/>
              </a:rPr>
              <a:t>•  XL 8 บิต (48 kbit) ชนะ L ที่ฝึกเอง (52 kbit, 88%)</a:t>
            </a:r>
          </a:p>
          <a:p>
            <a:pPr>
              <a:spcAft>
                <a:spcPts val="600"/>
              </a:spcAft>
            </a:pPr>
            <a:r>
              <a:rPr sz="2400" b="0">
                <a:solidFill>
                  <a:srgbClr val="141414"/>
                </a:solidFill>
                <a:latin typeface="TH Sarabun New"/>
              </a:rPr>
              <a:t>•  low-rank (SVD) ล้มเหลว: ความคลาดเคลื่อนสะสมในระบบวงปิด</a:t>
            </a:r>
          </a:p>
        </p:txBody>
      </p:sp>
      <p:pic>
        <p:nvPicPr>
          <p:cNvPr id="5" name="Picture 4" descr="rep_comp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331" y="2178000"/>
            <a:ext cx="9935338" cy="428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00000" y="6498000"/>
            <a:ext cx="57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  <a:latin typeface="TH Sarabun New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4000" y="216000"/>
            <a:ext cx="115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141414"/>
                </a:solidFill>
                <a:latin typeface="TH Sarabun New"/>
              </a:rPr>
              <a:t>โมเดลตัวโชว์: สนามโหดระดับ 3.0</a:t>
            </a:r>
          </a:p>
        </p:txBody>
      </p:sp>
      <p:sp>
        <p:nvSpPr>
          <p:cNvPr id="3" name="Rectangle 2"/>
          <p:cNvSpPr/>
          <p:nvPr/>
        </p:nvSpPr>
        <p:spPr>
          <a:xfrm>
            <a:off x="324000" y="810000"/>
            <a:ext cx="792000" cy="432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4000" y="1044000"/>
            <a:ext cx="4727520" cy="54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0">
                <a:solidFill>
                  <a:srgbClr val="141414"/>
                </a:solidFill>
                <a:latin typeface="TH Sarabun New"/>
              </a:rPr>
              <a:t>•  XL, 17 รังสี + PCA 8: เรียนจากครู → เรียนต่อบนสนามถนนกว้าง 7 เมตร → GA ฝึกต่อเอง</a:t>
            </a:r>
          </a:p>
          <a:p>
            <a:pPr>
              <a:spcAft>
                <a:spcPts val="600"/>
              </a:spcAft>
            </a:pPr>
            <a:r>
              <a:rPr sz="2600" b="0">
                <a:solidFill>
                  <a:srgbClr val="141414"/>
                </a:solidFill>
                <a:latin typeface="TH Sarabun New"/>
              </a:rPr>
              <a:t>•  สนามโหดระดับ 3.0 ที่ไม่เคยเห็น: จบรอบ 5% → 80%</a:t>
            </a:r>
          </a:p>
          <a:p>
            <a:pPr>
              <a:spcAft>
                <a:spcPts val="600"/>
              </a:spcAft>
            </a:pPr>
            <a:r>
              <a:rPr sz="2600" b="0">
                <a:solidFill>
                  <a:srgbClr val="141414"/>
                </a:solidFill>
                <a:latin typeface="TH Sarabun New"/>
              </a:rPr>
              <a:t>•  ความเร็วรอบที่จบ 20.5 → 24.3 ม./วิ. (ครู 23.3) เร็วกว่าครูแล้ว</a:t>
            </a:r>
          </a:p>
          <a:p>
            <a:pPr>
              <a:spcAft>
                <a:spcPts val="600"/>
              </a:spcAft>
            </a:pPr>
            <a:r>
              <a:rPr sz="2600" b="0">
                <a:solidFill>
                  <a:srgbClr val="141414"/>
                </a:solidFill>
                <a:latin typeface="TH Sarabun New"/>
              </a:rPr>
              <a:t>•  แต่ลืมสนามปกติบางส่วน: ชุด T 99% → 91%</a:t>
            </a:r>
          </a:p>
        </p:txBody>
      </p:sp>
      <p:pic>
        <p:nvPicPr>
          <p:cNvPr id="5" name="Picture 4" descr="tracks_d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9520" y="2039274"/>
            <a:ext cx="6528480" cy="34274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00000" y="6498000"/>
            <a:ext cx="57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  <a:latin typeface="TH Sarabun New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4000" y="216000"/>
            <a:ext cx="115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141414"/>
                </a:solidFill>
                <a:latin typeface="TH Sarabun New"/>
              </a:rPr>
              <a:t>Demo: ให้เพื่อนทดสอบ</a:t>
            </a:r>
          </a:p>
        </p:txBody>
      </p:sp>
      <p:sp>
        <p:nvSpPr>
          <p:cNvPr id="3" name="Rectangle 2"/>
          <p:cNvSpPr/>
          <p:nvPr/>
        </p:nvSpPr>
        <p:spPr>
          <a:xfrm>
            <a:off x="324000" y="810000"/>
            <a:ext cx="792000" cy="432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4000" y="1044000"/>
            <a:ext cx="4727520" cy="54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0">
                <a:solidFill>
                  <a:srgbClr val="141414"/>
                </a:solidFill>
                <a:latin typeface="TH Sarabun New"/>
              </a:rPr>
              <a:t>•  เพื่อน 2 คน เลือกสนาม (สุ่ม / seed / วาดเอง) ความยาก และโมเดลเอง</a:t>
            </a:r>
          </a:p>
          <a:p>
            <a:pPr>
              <a:spcAft>
                <a:spcPts val="600"/>
              </a:spcAft>
            </a:pPr>
            <a:r>
              <a:rPr sz="2600" b="0">
                <a:solidFill>
                  <a:srgbClr val="141414"/>
                </a:solidFill>
                <a:latin typeface="TH Sarabun New"/>
              </a:rPr>
              <a:t>•  รวม 10+ ครั้ง ผลบันทึกอัตโนมัติ</a:t>
            </a:r>
          </a:p>
          <a:p>
            <a:pPr>
              <a:spcAft>
                <a:spcPts val="600"/>
              </a:spcAft>
            </a:pPr>
            <a:r>
              <a:rPr sz="2600" b="0">
                <a:solidFill>
                  <a:srgbClr val="141414"/>
                </a:solidFill>
                <a:latin typeface="TH Sarabun New"/>
              </a:rPr>
              <a:t>•  สรุปผลรายคนและรายโมเดล</a:t>
            </a:r>
          </a:p>
        </p:txBody>
      </p:sp>
      <p:pic>
        <p:nvPicPr>
          <p:cNvPr id="5" name="Picture 4" descr="demo_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9520" y="1916865"/>
            <a:ext cx="6528480" cy="36722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00000" y="6498000"/>
            <a:ext cx="57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  <a:latin typeface="TH Sarabun New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4000" y="216000"/>
            <a:ext cx="11544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141414"/>
                </a:solidFill>
                <a:latin typeface="TH Sarabun New"/>
              </a:rPr>
              <a:t>สรุปและปัญหาที่พบ</a:t>
            </a:r>
          </a:p>
        </p:txBody>
      </p:sp>
      <p:sp>
        <p:nvSpPr>
          <p:cNvPr id="3" name="Rectangle 2"/>
          <p:cNvSpPr/>
          <p:nvPr/>
        </p:nvSpPr>
        <p:spPr>
          <a:xfrm>
            <a:off x="324000" y="810000"/>
            <a:ext cx="792000" cy="4320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4000" y="1044000"/>
            <a:ext cx="11544000" cy="541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800" b="0">
                <a:solidFill>
                  <a:srgbClr val="141414"/>
                </a:solidFill>
                <a:latin typeface="TH Sarabun New"/>
              </a:rPr>
              <a:t>•  ขนาดโมเดลที่เหมาะขึ้นกับวิธีฝึก • ทบทวนข้อมูลเก่ากันการลืม • ครูที่ดีสำคัญกว่าขนาด • PCA ลดมิติได้มาก • 8 bit บีบอัดได้ปลอดภัย</a:t>
            </a:r>
          </a:p>
          <a:p>
            <a:pPr>
              <a:spcAft>
                <a:spcPts val="600"/>
              </a:spcAft>
            </a:pPr>
            <a:r>
              <a:rPr sz="2800" b="0">
                <a:solidFill>
                  <a:srgbClr val="141414"/>
                </a:solidFill>
                <a:latin typeface="TH Sarabun New"/>
              </a:rPr>
              <a:t>•  ปัญหา: รถหมุนง่ายเกินจริง → ปรับยาง, เซนเซอร์ช้า → Numba 8×, ลืมถนนกว้าง → rehearsal, เวลาไม่พอ → ลดขนาดการทดลอง + BC, ตัดโหนดพัง → 8 bit</a:t>
            </a:r>
          </a:p>
          <a:p>
            <a:pPr>
              <a:spcAft>
                <a:spcPts val="600"/>
              </a:spcAft>
            </a:pPr>
            <a:r>
              <a:rPr sz="2800" b="0">
                <a:solidFill>
                  <a:srgbClr val="141414"/>
                </a:solidFill>
                <a:latin typeface="TH Sarabun New"/>
              </a:rPr>
              <a:t>•  ต่อยอด: reinforcement learning ด้วย gradient, จำลองบน GPU, เพิ่ม seed</a:t>
            </a:r>
          </a:p>
          <a:p>
            <a:pPr>
              <a:spcAft>
                <a:spcPts val="600"/>
              </a:spcAft>
            </a:pPr>
            <a:r>
              <a:rPr sz="2800" b="0">
                <a:solidFill>
                  <a:srgbClr val="141414"/>
                </a:solidFill>
                <a:latin typeface="TH Sarabun New"/>
              </a:rPr>
              <a:t>•  โค้ด: github.com/laplacian-n/nn-driving-linear-algebra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00000" y="6498000"/>
            <a:ext cx="576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555555"/>
                </a:solidFill>
                <a:latin typeface="TH Sarabun New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